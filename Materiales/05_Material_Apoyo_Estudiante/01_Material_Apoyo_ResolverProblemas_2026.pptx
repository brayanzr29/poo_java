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Raleway" pitchFamily="2" charset="0"/>
      <p:regular r:id="rId10"/>
      <p:bold r:id="rId11"/>
      <p:italic r:id="rId12"/>
      <p:boldItalic r:id="rId13"/>
    </p:embeddedFont>
    <p:embeddedFont>
      <p:font typeface="Raleway Black" pitchFamily="2" charset="0"/>
      <p:bold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hj/GM22+g5WlNiRDK1qmudNvL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828" y="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e244422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ae244422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862106" y="-737012"/>
            <a:ext cx="10192926" cy="8828025"/>
          </a:xfrm>
          <a:custGeom>
            <a:avLst/>
            <a:gdLst/>
            <a:ahLst/>
            <a:cxnLst/>
            <a:rect l="l" t="t" r="r" b="b"/>
            <a:pathLst>
              <a:path w="6202680" h="5372100" extrusionOk="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E62133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862106" y="2781467"/>
            <a:ext cx="9885941" cy="8560779"/>
          </a:xfrm>
          <a:custGeom>
            <a:avLst/>
            <a:gdLst/>
            <a:ahLst/>
            <a:cxnLst/>
            <a:rect l="l" t="t" r="r" b="b"/>
            <a:pathLst>
              <a:path w="4282440" h="3708400" extrusionOk="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976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0800000">
            <a:off x="15665672" y="5827235"/>
            <a:ext cx="7046513" cy="9312442"/>
          </a:xfrm>
          <a:custGeom>
            <a:avLst/>
            <a:gdLst/>
            <a:ahLst/>
            <a:cxnLst/>
            <a:rect l="l" t="t" r="r" b="b"/>
            <a:pathLst>
              <a:path w="4064946" h="5372100" extrusionOk="0">
                <a:moveTo>
                  <a:pt x="2514276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2514276" y="5372100"/>
                </a:lnTo>
                <a:lnTo>
                  <a:pt x="4064946" y="2686050"/>
                </a:lnTo>
                <a:lnTo>
                  <a:pt x="25142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grpSp>
        <p:nvGrpSpPr>
          <p:cNvPr id="87" name="Google Shape;87;p1"/>
          <p:cNvGrpSpPr/>
          <p:nvPr/>
        </p:nvGrpSpPr>
        <p:grpSpPr>
          <a:xfrm>
            <a:off x="1028700" y="391255"/>
            <a:ext cx="4345735" cy="1354421"/>
            <a:chOff x="0" y="0"/>
            <a:chExt cx="5794313" cy="1805894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5794313" cy="1805894"/>
            </a:xfrm>
            <a:custGeom>
              <a:avLst/>
              <a:gdLst/>
              <a:ahLst/>
              <a:cxnLst/>
              <a:rect l="l" t="t" r="r" b="b"/>
              <a:pathLst>
                <a:path w="5794313" h="1805894" extrusionOk="0">
                  <a:moveTo>
                    <a:pt x="0" y="0"/>
                  </a:moveTo>
                  <a:lnTo>
                    <a:pt x="5794313" y="0"/>
                  </a:lnTo>
                  <a:lnTo>
                    <a:pt x="5794313" y="1805894"/>
                  </a:lnTo>
                  <a:lnTo>
                    <a:pt x="0" y="18058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2472994" y="1511336"/>
              <a:ext cx="2072093" cy="191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5" b="1" i="0" u="none" strike="noStrike" cap="none">
                  <a:solidFill>
                    <a:srgbClr val="363636"/>
                  </a:solidFill>
                  <a:latin typeface="Raleway"/>
                  <a:ea typeface="Raleway"/>
                  <a:cs typeface="Raleway"/>
                  <a:sym typeface="Raleway"/>
                </a:rPr>
                <a:t>VIGILADA MINEDUCACIÓN</a:t>
              </a:r>
              <a:endParaRPr/>
            </a:p>
          </p:txBody>
        </p:sp>
      </p:grpSp>
      <p:cxnSp>
        <p:nvCxnSpPr>
          <p:cNvPr id="90" name="Google Shape;90;p1"/>
          <p:cNvCxnSpPr/>
          <p:nvPr/>
        </p:nvCxnSpPr>
        <p:spPr>
          <a:xfrm>
            <a:off x="1577526" y="6504273"/>
            <a:ext cx="3425190" cy="0"/>
          </a:xfrm>
          <a:prstGeom prst="straightConnector1">
            <a:avLst/>
          </a:prstGeom>
          <a:noFill/>
          <a:ln w="857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"/>
          <p:cNvSpPr txBox="1"/>
          <p:nvPr/>
        </p:nvSpPr>
        <p:spPr>
          <a:xfrm>
            <a:off x="1417266" y="4560679"/>
            <a:ext cx="8047367" cy="200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74" b="1" i="0" u="none" strike="noStrike" cap="none" dirty="0" err="1">
                <a:solidFill>
                  <a:srgbClr val="E62133"/>
                </a:solidFill>
                <a:latin typeface="Raleway Black"/>
                <a:ea typeface="Raleway Black"/>
                <a:cs typeface="Raleway Black"/>
                <a:sym typeface="Raleway Black"/>
              </a:rPr>
              <a:t>Programación</a:t>
            </a:r>
            <a:r>
              <a:rPr lang="en-US" sz="5974" b="1" i="0" u="none" strike="noStrike" cap="none" dirty="0">
                <a:solidFill>
                  <a:srgbClr val="E62133"/>
                </a:solidFill>
                <a:latin typeface="Raleway Black"/>
                <a:ea typeface="Raleway Black"/>
                <a:cs typeface="Raleway Black"/>
                <a:sym typeface="Raleway Black"/>
              </a:rPr>
              <a:t> </a:t>
            </a:r>
            <a:r>
              <a:rPr lang="en-US" sz="5974" b="1" i="0" u="none" strike="noStrike" cap="none" dirty="0" err="1">
                <a:solidFill>
                  <a:srgbClr val="E62133"/>
                </a:solidFill>
                <a:latin typeface="Raleway Black"/>
                <a:ea typeface="Raleway Black"/>
                <a:cs typeface="Raleway Black"/>
                <a:sym typeface="Raleway Black"/>
              </a:rPr>
              <a:t>Orientada</a:t>
            </a:r>
            <a:r>
              <a:rPr lang="en-US" sz="5974" b="1" i="0" u="none" strike="noStrike" cap="none" dirty="0">
                <a:solidFill>
                  <a:srgbClr val="E62133"/>
                </a:solidFill>
                <a:latin typeface="Raleway Black"/>
                <a:ea typeface="Raleway Black"/>
                <a:cs typeface="Raleway Black"/>
                <a:sym typeface="Raleway Black"/>
              </a:rPr>
              <a:t> a </a:t>
            </a:r>
            <a:r>
              <a:rPr lang="en-US" sz="5974" b="1" i="0" u="none" strike="noStrike" cap="none" dirty="0" err="1">
                <a:solidFill>
                  <a:srgbClr val="E62133"/>
                </a:solidFill>
                <a:latin typeface="Raleway Black"/>
                <a:ea typeface="Raleway Black"/>
                <a:cs typeface="Raleway Black"/>
                <a:sym typeface="Raleway Black"/>
              </a:rPr>
              <a:t>Objetos</a:t>
            </a:r>
            <a:endParaRPr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1417267" y="4059837"/>
            <a:ext cx="6555900" cy="48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8980"/>
              </a:lnSpc>
            </a:pPr>
            <a:r>
              <a:rPr lang="en-US" sz="2873" b="0" i="1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Programa</a:t>
            </a:r>
            <a:r>
              <a:rPr lang="en-US" sz="2873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873" b="0" i="1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Ingenieria</a:t>
            </a:r>
            <a:r>
              <a:rPr lang="en-US" sz="2873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Software</a:t>
            </a:r>
            <a:endParaRPr lang="en-US" sz="3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F79354-9202-490F-870C-57AE74EF31C9}"/>
              </a:ext>
            </a:extLst>
          </p:cNvPr>
          <p:cNvSpPr txBox="1"/>
          <p:nvPr/>
        </p:nvSpPr>
        <p:spPr>
          <a:xfrm>
            <a:off x="1417266" y="6700433"/>
            <a:ext cx="3736625" cy="40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8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Material de </a:t>
            </a:r>
            <a:r>
              <a:rPr lang="en-US" sz="2000" i="1" dirty="0" err="1"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000" b="0" i="1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poyo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244422ee_0_0"/>
          <p:cNvSpPr/>
          <p:nvPr/>
        </p:nvSpPr>
        <p:spPr>
          <a:xfrm rot="10800000">
            <a:off x="-1772689" y="-3344918"/>
            <a:ext cx="15839123" cy="5737577"/>
          </a:xfrm>
          <a:custGeom>
            <a:avLst/>
            <a:gdLst/>
            <a:ahLst/>
            <a:cxnLst/>
            <a:rect l="l" t="t" r="r" b="b"/>
            <a:pathLst>
              <a:path w="21118830" h="7650102" extrusionOk="0">
                <a:moveTo>
                  <a:pt x="18722594" y="0"/>
                </a:moveTo>
                <a:lnTo>
                  <a:pt x="2396236" y="0"/>
                </a:lnTo>
                <a:lnTo>
                  <a:pt x="0" y="3825051"/>
                </a:lnTo>
                <a:lnTo>
                  <a:pt x="2396236" y="7650102"/>
                </a:lnTo>
                <a:lnTo>
                  <a:pt x="18722594" y="7650102"/>
                </a:lnTo>
                <a:lnTo>
                  <a:pt x="21118830" y="3825051"/>
                </a:lnTo>
                <a:lnTo>
                  <a:pt x="18722594" y="0"/>
                </a:lnTo>
                <a:close/>
              </a:path>
            </a:pathLst>
          </a:custGeom>
          <a:solidFill>
            <a:srgbClr val="E62133"/>
          </a:solidFill>
          <a:ln>
            <a:noFill/>
          </a:ln>
        </p:spPr>
      </p:sp>
      <p:sp>
        <p:nvSpPr>
          <p:cNvPr id="106" name="Google Shape;106;g3ae244422ee_0_0"/>
          <p:cNvSpPr/>
          <p:nvPr/>
        </p:nvSpPr>
        <p:spPr>
          <a:xfrm rot="10800000" flipH="1">
            <a:off x="11582343" y="-1359365"/>
            <a:ext cx="7816401" cy="3752024"/>
          </a:xfrm>
          <a:custGeom>
            <a:avLst/>
            <a:gdLst/>
            <a:ahLst/>
            <a:cxnLst/>
            <a:rect l="l" t="t" r="r" b="b"/>
            <a:pathLst>
              <a:path w="7816401" h="3752024" extrusionOk="0">
                <a:moveTo>
                  <a:pt x="0" y="3752024"/>
                </a:moveTo>
                <a:lnTo>
                  <a:pt x="7816401" y="3752024"/>
                </a:lnTo>
                <a:lnTo>
                  <a:pt x="7816401" y="0"/>
                </a:lnTo>
                <a:lnTo>
                  <a:pt x="0" y="0"/>
                </a:lnTo>
                <a:lnTo>
                  <a:pt x="0" y="375202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469" r="-169" b="-339"/>
            </a:stretch>
          </a:blipFill>
          <a:ln>
            <a:noFill/>
          </a:ln>
        </p:spPr>
      </p:sp>
      <p:sp>
        <p:nvSpPr>
          <p:cNvPr id="107" name="Google Shape;107;g3ae244422ee_0_0"/>
          <p:cNvSpPr txBox="1"/>
          <p:nvPr/>
        </p:nvSpPr>
        <p:spPr>
          <a:xfrm>
            <a:off x="520243" y="438792"/>
            <a:ext cx="10493700" cy="195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824" b="1" i="0" u="none" strike="noStrike" cap="none" dirty="0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PASOS PARA RESOLVER UN PROBLEMA</a:t>
            </a:r>
            <a:endParaRPr lang="es-MX" dirty="0"/>
          </a:p>
        </p:txBody>
      </p:sp>
      <p:sp>
        <p:nvSpPr>
          <p:cNvPr id="108" name="Google Shape;108;g3ae244422ee_0_0"/>
          <p:cNvSpPr txBox="1"/>
          <p:nvPr/>
        </p:nvSpPr>
        <p:spPr>
          <a:xfrm>
            <a:off x="260936" y="2882515"/>
            <a:ext cx="8883064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s-MX" sz="28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COMPRENDER EL PROBLEMA.</a:t>
            </a:r>
            <a:br>
              <a:rPr lang="es-MX" sz="2000" dirty="0"/>
            </a:br>
            <a:r>
              <a:rPr lang="es-MX" sz="20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Leer el problema varias veces.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Establecer los datos del problema.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Aclarar lo que se va a resolver (¿Cuál es la o las pregunta?).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Precisar el resultado que se desea lograr.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Determinar la o las incógnitas del problema.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Organizar la información.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Agrupar los datos en categorías.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Trazar una figura o diagrama.</a:t>
            </a:r>
            <a:endParaRPr sz="2400" dirty="0"/>
          </a:p>
        </p:txBody>
      </p:sp>
      <p:sp>
        <p:nvSpPr>
          <p:cNvPr id="6" name="Google Shape;108;g3ae244422ee_0_0">
            <a:extLst>
              <a:ext uri="{FF2B5EF4-FFF2-40B4-BE49-F238E27FC236}">
                <a16:creationId xmlns:a16="http://schemas.microsoft.com/office/drawing/2014/main" id="{50979D58-685E-4D6A-A024-2BF4C4CD54A5}"/>
              </a:ext>
            </a:extLst>
          </p:cNvPr>
          <p:cNvSpPr txBox="1"/>
          <p:nvPr/>
        </p:nvSpPr>
        <p:spPr>
          <a:xfrm>
            <a:off x="9544193" y="2882515"/>
            <a:ext cx="7624691" cy="48259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39989"/>
              </a:lnSpc>
            </a:pPr>
            <a:r>
              <a:rPr lang="es-MX" sz="3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HACER EL PLAN.</a:t>
            </a:r>
            <a:br>
              <a:rPr lang="es-MX" sz="2000" dirty="0"/>
            </a:br>
            <a:r>
              <a:rPr lang="es-MX" sz="20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Escoger y decidir las operaciones a efectuar.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Eliminar los datos inútiles.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Descomponer el problema en otros más pequeños.</a:t>
            </a:r>
          </a:p>
          <a:p>
            <a:pPr lvl="1">
              <a:lnSpc>
                <a:spcPct val="139989"/>
              </a:lnSpc>
            </a:pPr>
            <a:endParaRPr lang="es-MX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39989"/>
              </a:lnSpc>
            </a:pPr>
            <a:r>
              <a:rPr lang="es-MX" sz="28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EJECUTAR EL PLAN (Resolver).</a:t>
            </a:r>
            <a:br>
              <a:rPr lang="es-MX" sz="2000" dirty="0"/>
            </a:br>
            <a:r>
              <a:rPr lang="es-MX" sz="20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Ejecutar en detalle cada operación.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Simplificar antes de calcular.</a:t>
            </a:r>
            <a:br>
              <a:rPr lang="es-MX" sz="2400" dirty="0"/>
            </a:br>
            <a:r>
              <a:rPr lang="es-MX" sz="2400" dirty="0"/>
              <a:t> 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• Realizar un dibujo o diagrama.</a:t>
            </a:r>
            <a:endParaRPr lang="es-MX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 rot="10800000">
            <a:off x="-1772689" y="-3344917"/>
            <a:ext cx="15839123" cy="5737576"/>
          </a:xfrm>
          <a:custGeom>
            <a:avLst/>
            <a:gdLst/>
            <a:ahLst/>
            <a:cxnLst/>
            <a:rect l="l" t="t" r="r" b="b"/>
            <a:pathLst>
              <a:path w="21118830" h="7650102" extrusionOk="0">
                <a:moveTo>
                  <a:pt x="18722594" y="0"/>
                </a:moveTo>
                <a:lnTo>
                  <a:pt x="2396236" y="0"/>
                </a:lnTo>
                <a:lnTo>
                  <a:pt x="0" y="3825051"/>
                </a:lnTo>
                <a:lnTo>
                  <a:pt x="2396236" y="7650102"/>
                </a:lnTo>
                <a:lnTo>
                  <a:pt x="18722594" y="7650102"/>
                </a:lnTo>
                <a:lnTo>
                  <a:pt x="21118830" y="3825051"/>
                </a:lnTo>
                <a:lnTo>
                  <a:pt x="18722594" y="0"/>
                </a:lnTo>
                <a:close/>
              </a:path>
            </a:pathLst>
          </a:custGeom>
          <a:solidFill>
            <a:srgbClr val="E62133"/>
          </a:solid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 rot="10800000" flipH="1">
            <a:off x="11582343" y="-1359365"/>
            <a:ext cx="7816401" cy="3752024"/>
          </a:xfrm>
          <a:custGeom>
            <a:avLst/>
            <a:gdLst/>
            <a:ahLst/>
            <a:cxnLst/>
            <a:rect l="l" t="t" r="r" b="b"/>
            <a:pathLst>
              <a:path w="7816401" h="3752024" extrusionOk="0">
                <a:moveTo>
                  <a:pt x="0" y="3752024"/>
                </a:moveTo>
                <a:lnTo>
                  <a:pt x="7816401" y="3752024"/>
                </a:lnTo>
                <a:lnTo>
                  <a:pt x="7816401" y="0"/>
                </a:lnTo>
                <a:lnTo>
                  <a:pt x="0" y="0"/>
                </a:lnTo>
                <a:lnTo>
                  <a:pt x="0" y="375202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464" r="-166" b="-338"/>
            </a:stretch>
          </a:blipFill>
          <a:ln>
            <a:noFill/>
          </a:ln>
        </p:spPr>
      </p:sp>
      <p:sp>
        <p:nvSpPr>
          <p:cNvPr id="115" name="Google Shape;115;p3"/>
          <p:cNvSpPr txBox="1"/>
          <p:nvPr/>
        </p:nvSpPr>
        <p:spPr>
          <a:xfrm>
            <a:off x="4378099" y="4736313"/>
            <a:ext cx="9531801" cy="1345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17" b="1" i="0" u="none" strike="noStrike" cap="none">
                <a:solidFill>
                  <a:srgbClr val="E62133"/>
                </a:solidFill>
                <a:latin typeface="Raleway Black"/>
                <a:ea typeface="Raleway Black"/>
                <a:cs typeface="Raleway Black"/>
                <a:sym typeface="Raleway Black"/>
              </a:rPr>
              <a:t>Gracias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665713" y="6091445"/>
            <a:ext cx="14956574" cy="48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8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3" b="0" i="1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Programa</a:t>
            </a:r>
            <a:r>
              <a:rPr lang="en-US" sz="2873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873" b="0" i="1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Ingenieria</a:t>
            </a:r>
            <a:r>
              <a:rPr lang="en-US" sz="2873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873" b="0" i="1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SOftware</a:t>
            </a:r>
            <a:endParaRPr dirty="0"/>
          </a:p>
        </p:txBody>
      </p:sp>
      <p:grpSp>
        <p:nvGrpSpPr>
          <p:cNvPr id="117" name="Google Shape;117;p3"/>
          <p:cNvGrpSpPr/>
          <p:nvPr/>
        </p:nvGrpSpPr>
        <p:grpSpPr>
          <a:xfrm>
            <a:off x="6971127" y="8356050"/>
            <a:ext cx="4345735" cy="1354421"/>
            <a:chOff x="0" y="0"/>
            <a:chExt cx="5794313" cy="1805894"/>
          </a:xfrm>
        </p:grpSpPr>
        <p:sp>
          <p:nvSpPr>
            <p:cNvPr id="118" name="Google Shape;118;p3"/>
            <p:cNvSpPr/>
            <p:nvPr/>
          </p:nvSpPr>
          <p:spPr>
            <a:xfrm>
              <a:off x="0" y="0"/>
              <a:ext cx="5794313" cy="1805894"/>
            </a:xfrm>
            <a:custGeom>
              <a:avLst/>
              <a:gdLst/>
              <a:ahLst/>
              <a:cxnLst/>
              <a:rect l="l" t="t" r="r" b="b"/>
              <a:pathLst>
                <a:path w="5794313" h="1805894" extrusionOk="0">
                  <a:moveTo>
                    <a:pt x="0" y="0"/>
                  </a:moveTo>
                  <a:lnTo>
                    <a:pt x="5794313" y="0"/>
                  </a:lnTo>
                  <a:lnTo>
                    <a:pt x="5794313" y="1805894"/>
                  </a:lnTo>
                  <a:lnTo>
                    <a:pt x="0" y="18058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9" name="Google Shape;119;p3"/>
            <p:cNvSpPr txBox="1"/>
            <p:nvPr/>
          </p:nvSpPr>
          <p:spPr>
            <a:xfrm>
              <a:off x="2472994" y="1511336"/>
              <a:ext cx="2072100" cy="1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5" b="1" i="0" u="none" strike="noStrike" cap="none">
                  <a:solidFill>
                    <a:srgbClr val="363636"/>
                  </a:solidFill>
                  <a:latin typeface="Raleway"/>
                  <a:ea typeface="Raleway"/>
                  <a:cs typeface="Raleway"/>
                  <a:sym typeface="Raleway"/>
                </a:rPr>
                <a:t>VIGILADA MINEDUCACIÓN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184</Words>
  <Application>Microsoft Office PowerPoint</Application>
  <PresentationFormat>Personalizado</PresentationFormat>
  <Paragraphs>12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Calibri</vt:lpstr>
      <vt:lpstr>Raleway</vt:lpstr>
      <vt:lpstr>Arial</vt:lpstr>
      <vt:lpstr>Raleway Black</vt:lpstr>
      <vt:lpstr>Office Theme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Maicol Ruidiaz</dc:creator>
  <cp:lastModifiedBy>Maicol</cp:lastModifiedBy>
  <cp:revision>5</cp:revision>
  <dcterms:created xsi:type="dcterms:W3CDTF">2006-08-16T00:00:00Z</dcterms:created>
  <dcterms:modified xsi:type="dcterms:W3CDTF">2026-02-24T04:38:34Z</dcterms:modified>
</cp:coreProperties>
</file>